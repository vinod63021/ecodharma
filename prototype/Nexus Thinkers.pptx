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8" d="100"/>
          <a:sy n="78" d="100"/>
        </p:scale>
        <p:origin x="878" y="6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9/25/2025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9/25/2025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9/25/2025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9/25/2025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9/25/2025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9/25/2025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Vinod63021/eco-dharm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cpcb.nic.in/uploads/MSW/MSW_AnnualReport_2021-22.pdf"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5" y="1549693"/>
            <a:ext cx="11447759" cy="4779001"/>
          </a:xfrm>
          <a:prstGeom prst="rect">
            <a:avLst/>
          </a:prstGeom>
          <a:noFill/>
        </p:spPr>
        <p:txBody>
          <a:bodyPr wrap="square" rtlCol="0">
            <a:spAutoFit/>
          </a:bodyPr>
          <a:lstStyle/>
          <a:p>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25060</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2400" b="1" dirty="0">
                <a:highlight>
                  <a:srgbClr val="FFFF00"/>
                </a:highlight>
                <a:latin typeface="Arial" panose="020B0604020202020204" pitchFamily="34" charset="0"/>
                <a:cs typeface="Arial" panose="020B0604020202020204" pitchFamily="34" charset="0"/>
              </a:rPr>
              <a:t>Real life solutions for Waste Management.</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Clean &amp; Green Technology</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 </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(Registered on portal) – Nexus Thinkers</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B36C5E-25D1-66A0-0EA5-DF899C62A01D}"/>
              </a:ext>
            </a:extLst>
          </p:cNvPr>
          <p:cNvPicPr>
            <a:picLocks noChangeAspect="1"/>
          </p:cNvPicPr>
          <p:nvPr/>
        </p:nvPicPr>
        <p:blipFill>
          <a:blip r:embed="rId3"/>
          <a:stretch>
            <a:fillRect/>
          </a:stretch>
        </p:blipFill>
        <p:spPr>
          <a:xfrm>
            <a:off x="-1" y="0"/>
            <a:ext cx="1179965" cy="1179965"/>
          </a:xfrm>
          <a:prstGeom prst="rect">
            <a:avLst/>
          </a:prstGeom>
        </p:spPr>
      </p:pic>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897735"/>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294381" y="1034257"/>
            <a:ext cx="5216284" cy="5183983"/>
          </a:xfrm>
          <a:prstGeom prst="rect">
            <a:avLst/>
          </a:prstGeom>
          <a:noFill/>
          <a:ln w="28575">
            <a:solidFill>
              <a:schemeClr val="tx1"/>
            </a:solidFill>
            <a:miter lim="800000"/>
            <a:headEnd/>
            <a:tailEnd/>
          </a:ln>
        </p:spPr>
        <p:txBody>
          <a:bodyPr wrap="square">
            <a:spAutoFit/>
          </a:bodyPr>
          <a:lstStyle/>
          <a:p>
            <a:pPr marL="420461" lvl="1" algn="just">
              <a:lnSpc>
                <a:spcPts val="5452"/>
              </a:lnSpc>
            </a:pPr>
            <a:r>
              <a:rPr lang="en-US" sz="2400" u="sng" spc="31" dirty="0">
                <a:latin typeface="Berlin Sans FB" panose="020E0602020502020306" pitchFamily="34" charset="0"/>
                <a:ea typeface="Arial Unicode"/>
                <a:cs typeface="Arial" panose="020B0604020202020204" pitchFamily="34" charset="0"/>
                <a:sym typeface="Arial Unicode"/>
              </a:rPr>
              <a:t>Problem Statement:</a:t>
            </a:r>
          </a:p>
          <a:p>
            <a:pPr marL="420461" lvl="1" algn="just">
              <a:lnSpc>
                <a:spcPct val="150000"/>
              </a:lnSpc>
            </a:pPr>
            <a:r>
              <a:rPr lang="en-US" sz="1600" spc="31" dirty="0">
                <a:latin typeface="Arial" panose="020B0604020202020204" pitchFamily="34" charset="0"/>
                <a:ea typeface="Arial Unicode"/>
                <a:cs typeface="Arial" panose="020B0604020202020204" pitchFamily="34" charset="0"/>
                <a:sym typeface="Arial Unicode"/>
              </a:rPr>
              <a:t>In FY 2021–22, India generated approximately 1.7 lakh </a:t>
            </a:r>
            <a:r>
              <a:rPr lang="en-US" sz="1600" spc="31" dirty="0" err="1">
                <a:latin typeface="Arial" panose="020B0604020202020204" pitchFamily="34" charset="0"/>
                <a:ea typeface="Arial Unicode"/>
                <a:cs typeface="Arial" panose="020B0604020202020204" pitchFamily="34" charset="0"/>
                <a:sym typeface="Arial Unicode"/>
              </a:rPr>
              <a:t>tonnes</a:t>
            </a:r>
            <a:r>
              <a:rPr lang="en-US" sz="1600" spc="31" dirty="0">
                <a:latin typeface="Arial" panose="020B0604020202020204" pitchFamily="34" charset="0"/>
                <a:ea typeface="Arial Unicode"/>
                <a:cs typeface="Arial" panose="020B0604020202020204" pitchFamily="34" charset="0"/>
                <a:sym typeface="Arial Unicode"/>
              </a:rPr>
              <a:t> of municipal solid waste daily, of which only 54% was scientifically treated. Around 24% was dumped in landfills and 22% remained unaccounted due to leakages in the waste management chain. This unaccounted waste is often burned or disposed of in open areas, drains, or water bodies, posing severe environmental and public health risks. (CEEW, 2025) This calls for strict solutions to enable all the waste generators to contribute to Waste Management.</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12" name="Picture 2" descr="https://www.sih.gov.in/img1/SIH-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4E4FB091-57F5-7D0C-F8E4-CC7AB8B35080}"/>
              </a:ext>
            </a:extLst>
          </p:cNvPr>
          <p:cNvSpPr>
            <a:spLocks noChangeArrowheads="1"/>
          </p:cNvSpPr>
          <p:nvPr/>
        </p:nvSpPr>
        <p:spPr bwMode="auto">
          <a:xfrm>
            <a:off x="5805047" y="1034257"/>
            <a:ext cx="6175094" cy="517064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2400" i="0" u="sng" strike="noStrike" cap="none" normalizeH="0" baseline="0" dirty="0">
                <a:ln>
                  <a:noFill/>
                </a:ln>
                <a:solidFill>
                  <a:schemeClr val="tx1"/>
                </a:solidFill>
                <a:effectLst/>
                <a:latin typeface="Berlin Sans FB" panose="020E0602020502020306" pitchFamily="34" charset="0"/>
              </a:rPr>
              <a:t>Our </a:t>
            </a:r>
            <a:r>
              <a:rPr kumimoji="0" lang="en-US" altLang="en-US" sz="2400" i="0" u="sng" strike="noStrike" cap="none" normalizeH="0" baseline="0" dirty="0" err="1">
                <a:ln>
                  <a:noFill/>
                </a:ln>
                <a:solidFill>
                  <a:schemeClr val="tx1"/>
                </a:solidFill>
                <a:effectLst/>
                <a:latin typeface="Berlin Sans FB" panose="020E0602020502020306" pitchFamily="34" charset="0"/>
              </a:rPr>
              <a:t>Soltuion</a:t>
            </a:r>
            <a:r>
              <a:rPr kumimoji="0" lang="en-US" altLang="en-US" sz="2400" i="0" u="sng" strike="noStrike" cap="none" normalizeH="0" baseline="0" dirty="0">
                <a:ln>
                  <a:noFill/>
                </a:ln>
                <a:solidFill>
                  <a:schemeClr val="tx1"/>
                </a:solidFill>
                <a:effectLst/>
                <a:latin typeface="Berlin Sans FB" panose="020E0602020502020306"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Waste Classification</a:t>
            </a:r>
            <a:r>
              <a:rPr kumimoji="0" lang="en-US" altLang="en-US" sz="1800" b="0" i="0" u="none" strike="noStrike" cap="none" normalizeH="0" baseline="0" dirty="0">
                <a:ln>
                  <a:noFill/>
                </a:ln>
                <a:solidFill>
                  <a:schemeClr val="tx1"/>
                </a:solidFill>
                <a:effectLst/>
                <a:latin typeface="Arial" panose="020B0604020202020204" pitchFamily="34" charset="0"/>
              </a:rPr>
              <a:t> – Detects &amp; sorts household waste using AI.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Reuse &amp; DIY Ideas</a:t>
            </a:r>
            <a:r>
              <a:rPr kumimoji="0" lang="en-US" altLang="en-US" sz="1800" b="0" i="0" u="none" strike="noStrike" cap="none" normalizeH="0" baseline="0" dirty="0">
                <a:ln>
                  <a:noFill/>
                </a:ln>
                <a:solidFill>
                  <a:schemeClr val="tx1"/>
                </a:solidFill>
                <a:effectLst/>
                <a:latin typeface="Arial" panose="020B0604020202020204" pitchFamily="34" charset="0"/>
              </a:rPr>
              <a:t> – Creative tutorials for upcycling waste.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Reward System</a:t>
            </a:r>
            <a:r>
              <a:rPr kumimoji="0" lang="en-US" altLang="en-US" sz="1800" b="0" i="0" u="none" strike="noStrike" cap="none" normalizeH="0" baseline="0" dirty="0">
                <a:ln>
                  <a:noFill/>
                </a:ln>
                <a:solidFill>
                  <a:schemeClr val="tx1"/>
                </a:solidFill>
                <a:effectLst/>
                <a:latin typeface="Arial" panose="020B0604020202020204" pitchFamily="34" charset="0"/>
              </a:rPr>
              <a:t> – Earn eco-points for responsible 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Google Maps Integration</a:t>
            </a:r>
            <a:r>
              <a:rPr kumimoji="0" lang="en-US" altLang="en-US" sz="1800" b="0" i="0" u="none" strike="noStrike" cap="none" normalizeH="0" baseline="0" dirty="0">
                <a:ln>
                  <a:noFill/>
                </a:ln>
                <a:solidFill>
                  <a:schemeClr val="tx1"/>
                </a:solidFill>
                <a:effectLst/>
                <a:latin typeface="Arial" panose="020B0604020202020204" pitchFamily="34" charset="0"/>
              </a:rPr>
              <a:t> – Locate nearest recyclers &amp; collection points.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Leaderboard &amp; Eco-Challenges</a:t>
            </a:r>
            <a:r>
              <a:rPr kumimoji="0" lang="en-US" altLang="en-US" sz="1800" b="0" i="0" u="none" strike="noStrike" cap="none" normalizeH="0" baseline="0" dirty="0">
                <a:ln>
                  <a:noFill/>
                </a:ln>
                <a:solidFill>
                  <a:schemeClr val="tx1"/>
                </a:solidFill>
                <a:effectLst/>
                <a:latin typeface="Arial" panose="020B0604020202020204" pitchFamily="34" charset="0"/>
              </a:rPr>
              <a:t> – Gamified competitions to encourage participation.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Household Focused</a:t>
            </a:r>
            <a:r>
              <a:rPr kumimoji="0" lang="en-US" altLang="en-US" b="0" i="0" u="none" strike="noStrike" cap="none" normalizeH="0" baseline="0" dirty="0">
                <a:ln>
                  <a:noFill/>
                </a:ln>
                <a:solidFill>
                  <a:schemeClr val="tx1"/>
                </a:solidFill>
                <a:effectLst/>
                <a:latin typeface="Arial" panose="020B0604020202020204" pitchFamily="34" charset="0"/>
              </a:rPr>
              <a:t> – Simple, accessible, and user-friendly for families.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81779" y="1095375"/>
            <a:ext cx="11228439" cy="4339650"/>
          </a:xfrm>
          <a:prstGeom prst="rect">
            <a:avLst/>
          </a:prstGeom>
          <a:noFill/>
          <a:ln w="9525">
            <a:noFill/>
            <a:miter lim="800000"/>
            <a:headEnd/>
            <a:tailEnd/>
          </a:ln>
        </p:spPr>
        <p:txBody>
          <a:bodyPr wrap="square">
            <a:spAutoFit/>
          </a:bodyPr>
          <a:lstStyle/>
          <a:p>
            <a:r>
              <a:rPr lang="en-US" sz="2400" b="1" u="sng" dirty="0"/>
              <a:t>Programming Languages:</a:t>
            </a:r>
            <a:endParaRPr lang="en-US" sz="2400" u="sng" dirty="0"/>
          </a:p>
          <a:p>
            <a:r>
              <a:rPr lang="en-US" sz="2000" b="1" dirty="0"/>
              <a:t>JavaScript / TypeScript</a:t>
            </a:r>
            <a:r>
              <a:rPr lang="en-US" sz="2000" dirty="0"/>
              <a:t> – for frontend (React) and backend (Node.js/Express).</a:t>
            </a:r>
          </a:p>
          <a:p>
            <a:r>
              <a:rPr lang="en-US" sz="2000" b="1" dirty="0"/>
              <a:t>React.js + Tailwind CSS</a:t>
            </a:r>
            <a:r>
              <a:rPr lang="en-US" sz="2000" dirty="0"/>
              <a:t> – for building responsive, modern UI components with utility-first styling</a:t>
            </a:r>
          </a:p>
          <a:p>
            <a:endParaRPr lang="en-US" sz="2000" dirty="0"/>
          </a:p>
          <a:p>
            <a:r>
              <a:rPr lang="en-US" sz="2400" b="1" u="sng" dirty="0"/>
              <a:t>Frameworks &amp; Libraries:</a:t>
            </a:r>
            <a:endParaRPr lang="en-US" sz="2400" u="sng" dirty="0"/>
          </a:p>
          <a:p>
            <a:r>
              <a:rPr lang="en-US" sz="2000" b="1" dirty="0"/>
              <a:t>Frontend:</a:t>
            </a:r>
            <a:r>
              <a:rPr lang="en-US" sz="2000" dirty="0"/>
              <a:t> React.js (UI, state management, component-based structure)</a:t>
            </a:r>
          </a:p>
          <a:p>
            <a:r>
              <a:rPr lang="en-US" sz="2000" b="1" dirty="0"/>
              <a:t>Backend:</a:t>
            </a:r>
            <a:r>
              <a:rPr lang="en-US" sz="2000" dirty="0"/>
              <a:t> Node.js with Express.js (API handling, server-side logic)</a:t>
            </a:r>
          </a:p>
          <a:p>
            <a:r>
              <a:rPr lang="en-US" sz="2000" b="1" dirty="0"/>
              <a:t>Hosting / Auth / Realtime DB:</a:t>
            </a:r>
            <a:r>
              <a:rPr lang="en-US" sz="2000" dirty="0"/>
              <a:t> Firebase (user authentication, cloud storage, notifications)</a:t>
            </a:r>
          </a:p>
          <a:p>
            <a:endParaRPr lang="en-US" sz="2400" u="sng" dirty="0"/>
          </a:p>
          <a:p>
            <a:r>
              <a:rPr lang="en-US" sz="2400" b="1" u="sng" dirty="0"/>
              <a:t>APIs / AI Tools:</a:t>
            </a:r>
            <a:endParaRPr lang="en-US" sz="2400" u="sng" dirty="0"/>
          </a:p>
          <a:p>
            <a:r>
              <a:rPr lang="en-US" sz="2000" b="1" dirty="0" err="1"/>
              <a:t>Genkit</a:t>
            </a:r>
            <a:r>
              <a:rPr lang="en-US" sz="2000" b="1" dirty="0"/>
              <a:t> AI</a:t>
            </a:r>
            <a:r>
              <a:rPr lang="en-US" sz="2000" dirty="0"/>
              <a:t> – for content generation or AI-driven functionality in your app.</a:t>
            </a:r>
          </a:p>
          <a:p>
            <a:r>
              <a:rPr lang="en-US" sz="2000" b="1" dirty="0"/>
              <a:t>Gemini API</a:t>
            </a:r>
            <a:r>
              <a:rPr lang="en-US" sz="2000" dirty="0"/>
              <a:t> – for additional AI services (e.g., recommendations, analysis).</a:t>
            </a:r>
          </a:p>
          <a:p>
            <a:r>
              <a:rPr lang="en-US" sz="2000" b="1" dirty="0"/>
              <a:t>Google Maps API</a:t>
            </a:r>
            <a:r>
              <a:rPr lang="en-US" sz="2000" dirty="0"/>
              <a:t> – for geolocation, mapping, and route visualization.</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ED775D4-F99E-FCC7-0B46-7D28DBECB452}"/>
              </a:ext>
            </a:extLst>
          </p:cNvPr>
          <p:cNvPicPr>
            <a:picLocks noChangeAspect="1"/>
          </p:cNvPicPr>
          <p:nvPr/>
        </p:nvPicPr>
        <p:blipFill>
          <a:blip r:embed="rId4"/>
          <a:stretch>
            <a:fillRect/>
          </a:stretch>
        </p:blipFill>
        <p:spPr>
          <a:xfrm>
            <a:off x="-1" y="0"/>
            <a:ext cx="1179965" cy="11799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D0D1F04-F520-21A8-3629-87D5FBE31B5A}"/>
              </a:ext>
            </a:extLst>
          </p:cNvPr>
          <p:cNvPicPr>
            <a:picLocks noChangeAspect="1"/>
          </p:cNvPicPr>
          <p:nvPr/>
        </p:nvPicPr>
        <p:blipFill>
          <a:blip r:embed="rId4"/>
          <a:stretch>
            <a:fillRect/>
          </a:stretch>
        </p:blipFill>
        <p:spPr>
          <a:xfrm>
            <a:off x="-1" y="0"/>
            <a:ext cx="1179965" cy="1179965"/>
          </a:xfrm>
          <a:prstGeom prst="rect">
            <a:avLst/>
          </a:prstGeom>
        </p:spPr>
      </p:pic>
      <p:pic>
        <p:nvPicPr>
          <p:cNvPr id="5" name="Picture 4">
            <a:extLst>
              <a:ext uri="{FF2B5EF4-FFF2-40B4-BE49-F238E27FC236}">
                <a16:creationId xmlns:a16="http://schemas.microsoft.com/office/drawing/2014/main" id="{B278D000-3D76-14B9-89A1-C63EA129B848}"/>
              </a:ext>
            </a:extLst>
          </p:cNvPr>
          <p:cNvPicPr>
            <a:picLocks noChangeAspect="1"/>
          </p:cNvPicPr>
          <p:nvPr/>
        </p:nvPicPr>
        <p:blipFill>
          <a:blip r:embed="rId5"/>
          <a:stretch>
            <a:fillRect/>
          </a:stretch>
        </p:blipFill>
        <p:spPr>
          <a:xfrm>
            <a:off x="1041967" y="1227590"/>
            <a:ext cx="10108064" cy="4854859"/>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375556" y="1227590"/>
            <a:ext cx="11440886" cy="1384995"/>
          </a:xfrm>
          <a:prstGeom prst="rect">
            <a:avLst/>
          </a:prstGeom>
          <a:noFill/>
          <a:ln w="9525">
            <a:noFill/>
            <a:miter lim="800000"/>
            <a:headEnd/>
            <a:tailEnd/>
          </a:ln>
        </p:spPr>
        <p:txBody>
          <a:bodyPr wrap="square">
            <a:spAutoFit/>
          </a:bodyPr>
          <a:lstStyle/>
          <a:p>
            <a:pPr marR="0" lvl="0" defTabSz="457200" rtl="0" eaLnBrk="1" fontAlgn="base" latinLnBrk="0" hangingPunct="1">
              <a:lnSpc>
                <a:spcPct val="100000"/>
              </a:lnSpc>
              <a:spcBef>
                <a:spcPct val="0"/>
              </a:spcBef>
              <a:spcAft>
                <a:spcPct val="0"/>
              </a:spcAft>
              <a:buClrTx/>
              <a:buSzTx/>
              <a:tabLst/>
              <a:defRPr/>
            </a:pPr>
            <a:r>
              <a:rPr lang="en-US" sz="2800" u="sng" dirty="0">
                <a:solidFill>
                  <a:prstClr val="black"/>
                </a:solidFill>
                <a:latin typeface="Berlin Sans FB" panose="020E0602020502020306" pitchFamily="34" charset="0"/>
                <a:cs typeface="Arial" pitchFamily="34" charset="0"/>
              </a:rPr>
              <a:t>Target Audience</a:t>
            </a:r>
            <a:r>
              <a:rPr lang="en-US" sz="2800" b="1" u="sng" dirty="0">
                <a:solidFill>
                  <a:prstClr val="black"/>
                </a:solidFill>
                <a:latin typeface="Arial" panose="020B0604020202020204" pitchFamily="34" charset="0"/>
                <a:cs typeface="Arial" pitchFamily="34" charset="0"/>
              </a:rPr>
              <a:t>:</a:t>
            </a:r>
          </a:p>
          <a:p>
            <a:pPr marR="0" lvl="0" algn="just" defTabSz="457200" rtl="0" eaLnBrk="1" fontAlgn="base" latinLnBrk="0" hangingPunct="1">
              <a:lnSpc>
                <a:spcPct val="100000"/>
              </a:lnSpc>
              <a:spcBef>
                <a:spcPct val="0"/>
              </a:spcBef>
              <a:spcAft>
                <a:spcPct val="0"/>
              </a:spcAft>
              <a:buClrTx/>
              <a:buSzTx/>
              <a:tabLst/>
              <a:defRPr/>
            </a:pPr>
            <a:r>
              <a:rPr lang="en-US" sz="2800" dirty="0">
                <a:solidFill>
                  <a:prstClr val="black"/>
                </a:solidFill>
                <a:latin typeface="Bahnschrift" panose="020B0502040204020203" pitchFamily="34" charset="0"/>
                <a:cs typeface="Arial" pitchFamily="34" charset="0"/>
              </a:rPr>
              <a:t>It will benefit the Households, Gated Communities and </a:t>
            </a:r>
            <a:r>
              <a:rPr lang="en-US" sz="2800" dirty="0" err="1">
                <a:solidFill>
                  <a:prstClr val="black"/>
                </a:solidFill>
                <a:latin typeface="Bahnschrift" panose="020B0502040204020203" pitchFamily="34" charset="0"/>
                <a:cs typeface="Arial" pitchFamily="34" charset="0"/>
              </a:rPr>
              <a:t>Organisations</a:t>
            </a:r>
            <a:r>
              <a:rPr lang="en-US" sz="2800" dirty="0">
                <a:solidFill>
                  <a:prstClr val="black"/>
                </a:solidFill>
                <a:latin typeface="Bahnschrift" panose="020B0502040204020203" pitchFamily="34" charset="0"/>
                <a:cs typeface="Arial" pitchFamily="34" charset="0"/>
              </a:rPr>
              <a:t> to manage waste by </a:t>
            </a:r>
            <a:r>
              <a:rPr lang="en-US" sz="2800">
                <a:solidFill>
                  <a:prstClr val="black"/>
                </a:solidFill>
                <a:latin typeface="Bahnschrift" panose="020B0502040204020203" pitchFamily="34" charset="0"/>
                <a:cs typeface="Arial" pitchFamily="34" charset="0"/>
              </a:rPr>
              <a:t>creating a </a:t>
            </a:r>
            <a:r>
              <a:rPr lang="en-US" sz="2800" dirty="0">
                <a:solidFill>
                  <a:prstClr val="black"/>
                </a:solidFill>
                <a:latin typeface="Bahnschrift" panose="020B0502040204020203" pitchFamily="34" charset="0"/>
                <a:cs typeface="Arial" pitchFamily="34" charset="0"/>
              </a:rPr>
              <a:t>clean environment.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F8B6CC4-8607-85AA-DD51-CE9999A7180C}"/>
              </a:ext>
            </a:extLst>
          </p:cNvPr>
          <p:cNvPicPr>
            <a:picLocks noChangeAspect="1"/>
          </p:cNvPicPr>
          <p:nvPr/>
        </p:nvPicPr>
        <p:blipFill>
          <a:blip r:embed="rId4"/>
          <a:stretch>
            <a:fillRect/>
          </a:stretch>
        </p:blipFill>
        <p:spPr>
          <a:xfrm>
            <a:off x="-1" y="0"/>
            <a:ext cx="1179965" cy="1179965"/>
          </a:xfrm>
          <a:prstGeom prst="rect">
            <a:avLst/>
          </a:prstGeom>
        </p:spPr>
      </p:pic>
      <p:sp>
        <p:nvSpPr>
          <p:cNvPr id="3" name="TextBox 2">
            <a:extLst>
              <a:ext uri="{FF2B5EF4-FFF2-40B4-BE49-F238E27FC236}">
                <a16:creationId xmlns:a16="http://schemas.microsoft.com/office/drawing/2014/main" id="{B0C9740D-E65B-2F97-B3E8-8810323B7D4F}"/>
              </a:ext>
            </a:extLst>
          </p:cNvPr>
          <p:cNvSpPr txBox="1"/>
          <p:nvPr/>
        </p:nvSpPr>
        <p:spPr>
          <a:xfrm>
            <a:off x="375556" y="2860421"/>
            <a:ext cx="11440886" cy="1384995"/>
          </a:xfrm>
          <a:prstGeom prst="rect">
            <a:avLst/>
          </a:prstGeom>
          <a:noFill/>
        </p:spPr>
        <p:txBody>
          <a:bodyPr wrap="square" rtlCol="0">
            <a:spAutoFit/>
          </a:bodyPr>
          <a:lstStyle/>
          <a:p>
            <a:r>
              <a:rPr lang="en-US" sz="2800" u="sng" dirty="0">
                <a:latin typeface="Berlin Sans FB" panose="020E0602020502020306" pitchFamily="34" charset="0"/>
              </a:rPr>
              <a:t>Social Impact:</a:t>
            </a:r>
          </a:p>
          <a:p>
            <a:r>
              <a:rPr lang="en-US" sz="2800" dirty="0">
                <a:latin typeface="Bahnschrift" panose="020B0502040204020203" pitchFamily="34" charset="0"/>
                <a:ea typeface="Cambria" panose="02040503050406030204" pitchFamily="18" charset="0"/>
              </a:rPr>
              <a:t>Leaderboard and Gamified Challenges are used to create an Active competition in society to join the hands for cleaning environment.</a:t>
            </a:r>
          </a:p>
        </p:txBody>
      </p:sp>
      <p:sp>
        <p:nvSpPr>
          <p:cNvPr id="4" name="TextBox 3">
            <a:extLst>
              <a:ext uri="{FF2B5EF4-FFF2-40B4-BE49-F238E27FC236}">
                <a16:creationId xmlns:a16="http://schemas.microsoft.com/office/drawing/2014/main" id="{ACF28D9B-897E-0007-4F2D-508436847A23}"/>
              </a:ext>
            </a:extLst>
          </p:cNvPr>
          <p:cNvSpPr txBox="1"/>
          <p:nvPr/>
        </p:nvSpPr>
        <p:spPr>
          <a:xfrm>
            <a:off x="375557" y="4469849"/>
            <a:ext cx="11440886" cy="1384995"/>
          </a:xfrm>
          <a:prstGeom prst="rect">
            <a:avLst/>
          </a:prstGeom>
          <a:noFill/>
        </p:spPr>
        <p:txBody>
          <a:bodyPr wrap="square" rtlCol="0">
            <a:spAutoFit/>
          </a:bodyPr>
          <a:lstStyle/>
          <a:p>
            <a:r>
              <a:rPr lang="en-US" sz="2800" u="sng" dirty="0">
                <a:latin typeface="Berlin Sans FB" panose="020E0602020502020306" pitchFamily="34" charset="0"/>
              </a:rPr>
              <a:t>Environmental Impact:</a:t>
            </a:r>
          </a:p>
          <a:p>
            <a:r>
              <a:rPr lang="en-US" sz="2800" dirty="0">
                <a:latin typeface="Bahnschrift" panose="020B0502040204020203" pitchFamily="34" charset="0"/>
              </a:rPr>
              <a:t>Makes the environment neat and clean by recycling the waste.</a:t>
            </a:r>
          </a:p>
          <a:p>
            <a:r>
              <a:rPr lang="en-US" sz="2800" dirty="0">
                <a:latin typeface="Bahnschrift" panose="020B0502040204020203" pitchFamily="34" charset="0"/>
              </a:rPr>
              <a:t>This can reduce the environmental pollution.</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589981" y="4400829"/>
            <a:ext cx="11159613" cy="1261884"/>
          </a:xfrm>
          <a:prstGeom prst="rect">
            <a:avLst/>
          </a:prstGeom>
          <a:noFill/>
          <a:ln w="9525">
            <a:noFill/>
            <a:miter lim="800000"/>
            <a:headEnd/>
            <a:tailEnd/>
          </a:ln>
        </p:spPr>
        <p:txBody>
          <a:bodyPr wrap="square">
            <a:spAutoFit/>
          </a:bodyPr>
          <a:lstStyle/>
          <a:p>
            <a:pPr lvl="0" algn="just">
              <a:defRPr/>
            </a:pPr>
            <a:r>
              <a:rPr lang="en-US" sz="2800" u="sng" dirty="0">
                <a:latin typeface="Berlin Sans FB" panose="020E0602020502020306" pitchFamily="34" charset="0"/>
                <a:cs typeface="Arial" panose="020B0604020202020204" pitchFamily="34" charset="0"/>
                <a:hlinkClick r:id="rId3">
                  <a:extLst>
                    <a:ext uri="{A12FA001-AC4F-418D-AE19-62706E023703}">
                      <ahyp:hlinkClr xmlns:ahyp="http://schemas.microsoft.com/office/drawing/2018/hyperlinkcolor" val="tx"/>
                    </a:ext>
                  </a:extLst>
                </a:hlinkClick>
              </a:rPr>
              <a:t>Source:</a:t>
            </a:r>
          </a:p>
          <a:p>
            <a:pPr lvl="0" algn="just">
              <a:defRPr/>
            </a:pPr>
            <a:r>
              <a:rPr lang="en-US" sz="2400" u="sng" dirty="0">
                <a:latin typeface="Bahnschrift" panose="020B0502040204020203"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https://github.com/Vinod63021/eco-dharma</a:t>
            </a:r>
            <a:endParaRPr lang="en-US" sz="2400" u="sng" dirty="0">
              <a:latin typeface="Bahnschrift" panose="020B0502040204020203" pitchFamily="34" charset="0"/>
              <a:cs typeface="Arial" panose="020B0604020202020204" pitchFamily="34" charset="0"/>
            </a:endParaRPr>
          </a:p>
          <a:p>
            <a:pPr lvl="0" algn="just">
              <a:defRPr/>
            </a:pPr>
            <a:r>
              <a:rPr lang="en-US" sz="2400" dirty="0">
                <a:latin typeface="Bahnschrift" panose="020B0502040204020203" pitchFamily="34" charset="0"/>
                <a:cs typeface="Arial" panose="020B0604020202020204" pitchFamily="34" charset="0"/>
              </a:rPr>
              <a:t>https://github.com/Manikanta18apr/EcoDharma</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2" descr="https://www.sih.gov.in/img1/SIH-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F3B0F3E-AC65-C7CD-6EFF-B912FF15E1C8}"/>
              </a:ext>
            </a:extLst>
          </p:cNvPr>
          <p:cNvPicPr>
            <a:picLocks noChangeAspect="1"/>
          </p:cNvPicPr>
          <p:nvPr/>
        </p:nvPicPr>
        <p:blipFill>
          <a:blip r:embed="rId5"/>
          <a:stretch>
            <a:fillRect/>
          </a:stretch>
        </p:blipFill>
        <p:spPr>
          <a:xfrm>
            <a:off x="-1" y="0"/>
            <a:ext cx="1179965" cy="1179965"/>
          </a:xfrm>
          <a:prstGeom prst="rect">
            <a:avLst/>
          </a:prstGeom>
        </p:spPr>
      </p:pic>
      <p:sp>
        <p:nvSpPr>
          <p:cNvPr id="4" name="TextBox 3">
            <a:extLst>
              <a:ext uri="{FF2B5EF4-FFF2-40B4-BE49-F238E27FC236}">
                <a16:creationId xmlns:a16="http://schemas.microsoft.com/office/drawing/2014/main" id="{7744DF3A-55B2-53E3-322E-8E78300B8138}"/>
              </a:ext>
            </a:extLst>
          </p:cNvPr>
          <p:cNvSpPr txBox="1"/>
          <p:nvPr/>
        </p:nvSpPr>
        <p:spPr>
          <a:xfrm>
            <a:off x="589981" y="1072176"/>
            <a:ext cx="11066208" cy="3170099"/>
          </a:xfrm>
          <a:prstGeom prst="rect">
            <a:avLst/>
          </a:prstGeom>
          <a:noFill/>
        </p:spPr>
        <p:txBody>
          <a:bodyPr wrap="square" rtlCol="0">
            <a:spAutoFit/>
          </a:bodyPr>
          <a:lstStyle/>
          <a:p>
            <a:r>
              <a:rPr lang="en-US" sz="2000" dirty="0"/>
              <a:t>CPCB. </a:t>
            </a:r>
            <a:r>
              <a:rPr lang="en-US" sz="2000" i="1" dirty="0"/>
              <a:t>Annual Report on Solid Waste Management, 2021–22</a:t>
            </a:r>
            <a:r>
              <a:rPr lang="en-US" sz="2000" dirty="0"/>
              <a:t>.</a:t>
            </a:r>
          </a:p>
          <a:p>
            <a:r>
              <a:rPr lang="en-US" sz="2000" dirty="0">
                <a:solidFill>
                  <a:srgbClr val="0070C0"/>
                </a:solidFill>
                <a:hlinkClick r:id="rId6">
                  <a:extLst>
                    <a:ext uri="{A12FA001-AC4F-418D-AE19-62706E023703}">
                      <ahyp:hlinkClr xmlns:ahyp="http://schemas.microsoft.com/office/drawing/2018/hyperlinkcolor" val="tx"/>
                    </a:ext>
                  </a:extLst>
                </a:hlinkClick>
              </a:rPr>
              <a:t>https://cpcb.nic.in/uploads/MSW/MSW_AnnualReport_2021-22.pdf</a:t>
            </a:r>
            <a:endParaRPr lang="en-US" sz="2000" dirty="0">
              <a:solidFill>
                <a:srgbClr val="0070C0"/>
              </a:solidFill>
            </a:endParaRPr>
          </a:p>
          <a:p>
            <a:endParaRPr lang="en-US" sz="2000" dirty="0"/>
          </a:p>
          <a:p>
            <a:r>
              <a:rPr lang="en-US" sz="2000" dirty="0"/>
              <a:t>CEEW. </a:t>
            </a:r>
            <a:r>
              <a:rPr lang="en-US" sz="2000" i="1" dirty="0"/>
              <a:t>How can Indian Cities Boost Sustainable Solid Waste Management Practices</a:t>
            </a:r>
            <a:r>
              <a:rPr lang="en-US" sz="2000" dirty="0"/>
              <a:t>.</a:t>
            </a:r>
          </a:p>
          <a:p>
            <a:r>
              <a:rPr lang="en-US" sz="2000" u="sng" dirty="0">
                <a:solidFill>
                  <a:srgbClr val="0070C0"/>
                </a:solidFill>
              </a:rPr>
              <a:t>https://www.ceew.in/publications/how-can-indian-cities-boost-sustainable-solid-waste-management-practices</a:t>
            </a:r>
          </a:p>
          <a:p>
            <a:endParaRPr lang="en-US" sz="2000" dirty="0"/>
          </a:p>
          <a:p>
            <a:r>
              <a:rPr lang="en-US" sz="2000" dirty="0"/>
              <a:t>CEEW. </a:t>
            </a:r>
            <a:r>
              <a:rPr lang="en-US" sz="2000" i="1" dirty="0"/>
              <a:t>Plastic Waste Recycling — State of Practice, Jobs &amp; Opportunities.</a:t>
            </a:r>
          </a:p>
          <a:p>
            <a:r>
              <a:rPr lang="en-US" sz="2000" u="sng" dirty="0">
                <a:solidFill>
                  <a:srgbClr val="0070C0"/>
                </a:solidFill>
              </a:rPr>
              <a:t>https://www.ceew.in/plastic-waste-recycling</a:t>
            </a:r>
          </a:p>
          <a:p>
            <a:r>
              <a:rPr lang="en-US" sz="2000" dirty="0"/>
              <a:t> </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7598</TotalTime>
  <Words>559</Words>
  <Application>Microsoft Office PowerPoint</Application>
  <PresentationFormat>Widescreen</PresentationFormat>
  <Paragraphs>76</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ＭＳ Ｐゴシック</vt:lpstr>
      <vt:lpstr>Arial</vt:lpstr>
      <vt:lpstr>Bahnschrift</vt:lpstr>
      <vt:lpstr>Berlin Sans FB</vt:lpstr>
      <vt:lpstr>Calibri</vt:lpstr>
      <vt:lpstr>Garamond</vt:lpstr>
      <vt:lpstr>Times New Roman</vt:lpstr>
      <vt:lpstr>TradeGothic</vt:lpstr>
      <vt:lpstr>Office Theme</vt:lpstr>
      <vt:lpstr>SMART INDIA HACKATHON 2025</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SAMMIDI VENKATA SATYA SURYA VINOD KUMAR</cp:lastModifiedBy>
  <cp:revision>155</cp:revision>
  <dcterms:created xsi:type="dcterms:W3CDTF">2013-12-12T18:46:50Z</dcterms:created>
  <dcterms:modified xsi:type="dcterms:W3CDTF">2025-09-25T08:19:46Z</dcterms:modified>
  <cp:category/>
</cp:coreProperties>
</file>